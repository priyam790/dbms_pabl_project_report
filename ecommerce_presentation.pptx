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Database Management System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using MySQL 8.0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1920240" cy="34747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1: DB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063240"/>
            <a:ext cx="1920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2: Rel. Algebra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3063240"/>
            <a:ext cx="1920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3: Normalization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3063240"/>
            <a:ext cx="192024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4: PPT &amp; Viva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520440"/>
            <a:ext cx="21488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204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5: Transactions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3520440"/>
            <a:ext cx="2148840" cy="34747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35204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6: Concurrency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520440"/>
            <a:ext cx="214884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35204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7: Final Submission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B.Tech / BCA / MCA Submission  |  MySQL + InnoDB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E-Commerce DBMS — All 7 Phases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1554480" cy="320040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1612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" y="1581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Roles,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84248" y="77724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84248" y="777240"/>
            <a:ext cx="15544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984248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84248" y="11612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84248" y="1581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Shop details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39896" y="77724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9896" y="777240"/>
            <a:ext cx="15544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739896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addresses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39896" y="11612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39896" y="1581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Delivery addr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95544" y="77724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95544" y="777240"/>
            <a:ext cx="1554480" cy="3200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5495544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95544" y="11612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95544" y="1581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Hierarchy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51192" y="77724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51192" y="777240"/>
            <a:ext cx="155448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251192" y="777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51192" y="11612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51192" y="158191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Listings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251460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2514600"/>
            <a:ext cx="1554480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28600" y="2898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28600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Pre-order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84248" y="251460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984248" y="2514600"/>
            <a:ext cx="15544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1984248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84248" y="2898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984248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Order mgmt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39896" y="251460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39896" y="2514600"/>
            <a:ext cx="1554480" cy="320040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45" name="Text 43"/>
          <p:cNvSpPr/>
          <p:nvPr/>
        </p:nvSpPr>
        <p:spPr>
          <a:xfrm>
            <a:off x="3739896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order_items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39896" y="2898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739896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Line items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95544" y="251460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495544" y="2514600"/>
            <a:ext cx="15544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5495544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95544" y="2898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495544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251192" y="2514600"/>
            <a:ext cx="1554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EDAF0"/>
            </a:solidFill>
            <a:prstDash val="solid"/>
          </a:ln>
          <a:effectLst>
            <a:outerShdw sx="100000" sy="100000" kx="0" ky="0" algn="bl" rotWithShape="0" blurRad="38100" dist="25400" dir="8100000">
              <a:srgbClr val="AAAAAA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51192" y="2514600"/>
            <a:ext cx="15544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5" name="Text 53"/>
          <p:cNvSpPr/>
          <p:nvPr/>
        </p:nvSpPr>
        <p:spPr>
          <a:xfrm>
            <a:off x="7251192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reviews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251192" y="2898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1192" y="331927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Ratings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8288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10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8288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Tables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64592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20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4592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SQL Queries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10896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2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310896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Views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2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57200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Triggers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03504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1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03504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Procedure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98080" y="43159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FA6"/>
                </a:solidFill>
              </a:rPr>
              <a:t>7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498080" y="455371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</a:rPr>
              <a:t>Indexes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4663440"/>
            <a:ext cx="6583680" cy="480060"/>
          </a:xfrm>
          <a:prstGeom prst="rect">
            <a:avLst/>
          </a:prstGeom>
          <a:solidFill>
            <a:srgbClr val="D6E4F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137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1A5FA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37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502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AABB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868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Design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 Diagram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" y="1645920"/>
            <a:ext cx="2286000" cy="475488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" y="16459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10 Entities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2240280"/>
            <a:ext cx="2286000" cy="475488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224028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12 Relationships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2834640"/>
            <a:ext cx="2286000" cy="475488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" y="28346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ACID: InnoDB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" y="3429000"/>
            <a:ext cx="2286000" cy="475488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34290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Constraints: PK,FK,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CHECK,UNIQUE,ENUM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" y="4023360"/>
            <a:ext cx="2286000" cy="475488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" y="40233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A"/>
                </a:solidFill>
              </a:rPr>
              <a:t>3NF Normalised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1371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743200" y="658368"/>
            <a:ext cx="6126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6583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Users  →  Addresses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74980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7498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Many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83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Multiple delivery addresses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1161288"/>
            <a:ext cx="6126480" cy="438912"/>
          </a:xfrm>
          <a:prstGeom prst="rect">
            <a:avLst/>
          </a:prstGeom>
          <a:solidFill>
            <a:srgbClr val="EBF3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1612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Users  →  Sellers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125272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12527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11612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A user can become a seller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1664208"/>
            <a:ext cx="6126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16642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Users  →  Orders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74920" y="175564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17556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Many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6642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Customer order history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0" y="2167128"/>
            <a:ext cx="6126480" cy="438912"/>
          </a:xfrm>
          <a:prstGeom prst="rect">
            <a:avLst/>
          </a:prstGeom>
          <a:solidFill>
            <a:srgbClr val="EBF3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216712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Sellers  →  Products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225856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22585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Many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0" y="21671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Seller product catalogue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0" y="2670048"/>
            <a:ext cx="6126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267004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Orders  →  Order Items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74920" y="276148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27614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Many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0" y="26700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Line items per order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0" y="3172968"/>
            <a:ext cx="6126480" cy="438912"/>
          </a:xfrm>
          <a:prstGeom prst="rect">
            <a:avLst/>
          </a:prstGeom>
          <a:solidFill>
            <a:srgbClr val="EBF3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31729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Orders  →  Payments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74920" y="326440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32644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43600" y="317296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One payment per order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0" y="3675888"/>
            <a:ext cx="6126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3675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Categories  →  Categories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74920" y="376732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53" name="Text 51"/>
          <p:cNvSpPr/>
          <p:nvPr/>
        </p:nvSpPr>
        <p:spPr>
          <a:xfrm>
            <a:off x="5074920" y="37673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Self-ref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43600" y="36758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Subcategory hierarchy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0" y="4178808"/>
            <a:ext cx="6126480" cy="438912"/>
          </a:xfrm>
          <a:prstGeom prst="rect">
            <a:avLst/>
          </a:prstGeom>
          <a:solidFill>
            <a:srgbClr val="EBF3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41788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Products  →  Reviews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74920" y="4270248"/>
            <a:ext cx="77724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58" name="Text 56"/>
          <p:cNvSpPr/>
          <p:nvPr/>
        </p:nvSpPr>
        <p:spPr>
          <a:xfrm>
            <a:off x="5074920" y="42702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: Many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43600" y="417880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Customer product reviews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1 — Schema Design &amp; ER Diagram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1A5FA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1 — Key DDL &amp; Design Decisions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1 — DDL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4 /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749808"/>
            <a:ext cx="4114800" cy="292608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7498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042416"/>
            <a:ext cx="4114800" cy="162763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1338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users 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1344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 INT AUTO_INCREMENT PK,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15544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VARCHAR(150) NOT NULL UNIQUE,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764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     ENUM('customer','seller','admin')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19751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DEFAULT 'customer',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" y="2185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DATETIME DEFAULT NOW()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23957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80560" y="749808"/>
            <a:ext cx="44805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749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products table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1042416"/>
            <a:ext cx="4480560" cy="162763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13385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products 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13441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product_id  INT AUTO_INCREMENT PK,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0" y="15544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seller_id   INT NOT NULL,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176479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  DECIMAL(10,2) CHECK(price&gt;=0),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197510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stock_qty INT DEFAULT 0 CHECK(qty&gt;=0),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2185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FK(seller_id) REFERENCES sellers,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23957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2880" y="29260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D"/>
                </a:solidFill>
              </a:rPr>
              <a:t>Key Design Decisions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82880" y="3337560"/>
            <a:ext cx="2011680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2880" y="3337560"/>
            <a:ext cx="2011680" cy="274320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 ENUM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657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Avoids extra user-type tables; enforces valid values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95728" y="3337560"/>
            <a:ext cx="2011680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95728" y="3337560"/>
            <a:ext cx="20116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2395728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self-ref FK on categories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87168" y="3657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Enables unlimited subcategory nesting depth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08576" y="3337560"/>
            <a:ext cx="2011680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3337560"/>
            <a:ext cx="20116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608576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unit_price in order_items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0016" y="3657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Preserves price at time of purchase (historical)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21424" y="3337560"/>
            <a:ext cx="2011680" cy="118872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21424" y="3337560"/>
            <a:ext cx="2011680" cy="274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6821424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DECIMAL(10,2) for money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12864" y="3657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Avoids floating-point errors on financial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2 — Relational Algebra Operators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2 — Relational Algebra &amp; SQL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5 /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749808"/>
            <a:ext cx="2651760" cy="411480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7498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" y="749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12252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Filters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by condition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70992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556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role='customer' (users)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27248" y="74980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749808"/>
            <a:ext cx="2651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127248" y="7498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94176" y="749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18688" y="12252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Selects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specific cols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18688" y="170992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17556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name,email (users)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25896" y="74980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5896" y="749808"/>
            <a:ext cx="26517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025896" y="74980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92824" y="7498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17336" y="12252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Combines tables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on a condition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17336" y="170992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75564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⋈ sellers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67004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2670048"/>
            <a:ext cx="265176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" y="26700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95528" y="26700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0040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Combines rows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from two queries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63016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6758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∪ sellers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27248" y="267004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27248" y="2670048"/>
            <a:ext cx="26517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3127248" y="26700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3694176" y="26700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Difference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18688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Rows in R1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but not R2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18688" y="363016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64408" y="36758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all_users − ordered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25896" y="2670048"/>
            <a:ext cx="2651760" cy="1691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25896" y="2670048"/>
            <a:ext cx="265176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7" name="Text 45"/>
          <p:cNvSpPr/>
          <p:nvPr/>
        </p:nvSpPr>
        <p:spPr>
          <a:xfrm>
            <a:off x="6025896" y="267004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592824" y="26700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Rename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117336" y="31455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Aliases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relation/attribute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17336" y="3630168"/>
            <a:ext cx="2468880" cy="566928"/>
          </a:xfrm>
          <a:prstGeom prst="rect">
            <a:avLst/>
          </a:prstGeom>
          <a:solidFill>
            <a:srgbClr val="E0EDF8"/>
          </a:solidFill>
          <a:ln w="6350">
            <a:solidFill>
              <a:srgbClr val="BDD4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36758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parent(categories)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4663440"/>
            <a:ext cx="6583680" cy="480060"/>
          </a:xfrm>
          <a:prstGeom prst="rect">
            <a:avLst/>
          </a:prstGeom>
          <a:solidFill>
            <a:srgbClr val="D6E4F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137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37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56692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SQL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" y="148132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" y="1481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JOINs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" y="16642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3-table, self-join, anti-join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202996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20299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Aggregation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SUM, AVG, COUNT, GROUP BY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" y="257860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" y="2578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Subqueries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" y="27614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NOT IN, EXISTS, Correlated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" y="312724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Window Fn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RANK(), SUM() OVER()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" y="367588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" y="36758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Date Fn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" y="3858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DATE_FORMAT, MONTH()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" y="4224528"/>
            <a:ext cx="2286000" cy="438912"/>
          </a:xfrm>
          <a:prstGeom prst="rect">
            <a:avLst/>
          </a:prstGeom>
          <a:solidFill>
            <a:srgbClr val="1A4066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" y="4224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A"/>
                </a:solidFill>
              </a:rPr>
              <a:t>Set Ops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" y="44074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AABB"/>
                </a:solidFill>
              </a:rPr>
              <a:t>UNION, Difference (anti-join)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2 — SQL Queries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6 / 14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914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Query Highlights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2743200" y="566928"/>
            <a:ext cx="612648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30" name="Text 28"/>
          <p:cNvSpPr/>
          <p:nvPr/>
        </p:nvSpPr>
        <p:spPr>
          <a:xfrm>
            <a:off x="2816352" y="56692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Q8 — Anti-Join: Customers with no orders (LEFT JOIN + IS NULL)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822960"/>
            <a:ext cx="6126480" cy="66751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89611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u.user_id, u.name, u.email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16352" y="107899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users u LEFT JOIN orders o ON u.user_id = o.user_id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16352" y="126187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o.order_id IS NULL AND u.role = 'customer';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1810512"/>
            <a:ext cx="61264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816352" y="181051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Q19 — CTE + Window Function: Top product per seller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2066544"/>
            <a:ext cx="6126480" cy="162763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16352" y="213969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seller_sales AS 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16352" y="232257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seller_id, product_id, name,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16352" y="250545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RANK() OVER(PARTITION BY seller_id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16352" y="268833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ORDER BY SUM(quantity) DESC) rnk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816352" y="287121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order_items JOIN products USING(product_id)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16352" y="305409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seller_id, product_id)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16352" y="323697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shop_name, name AS top_product FROM seller_sales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16352" y="341985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sellers USING(seller_id) WHERE rnk = 1;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0" y="3246120"/>
            <a:ext cx="61264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2816352" y="324612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Q18 — Correlated Subquery: Products above category average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0" y="3502152"/>
            <a:ext cx="6126480" cy="66751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16352" y="357530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p.price FROM products 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16352" y="375818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p.price &gt; (SELECT AVG(p2.price) FROM products p2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16352" y="394106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WHERE p2.category_id = p.category_id);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 — Normalization (UNF → BCNF)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3 — Normalization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7 /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749808"/>
            <a:ext cx="1627632" cy="34747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749808"/>
            <a:ext cx="1627632" cy="5303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749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" y="1005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Unnormalised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1371600"/>
            <a:ext cx="1444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Repeating groups, multi-valued attributes, massive redundancy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901952" y="749808"/>
            <a:ext cx="1627632" cy="3474720"/>
          </a:xfrm>
          <a:prstGeom prst="rect">
            <a:avLst/>
          </a:prstGeom>
          <a:solidFill>
            <a:srgbClr val="FEF9C3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1952" y="749808"/>
            <a:ext cx="1627632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749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01952" y="1005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First NF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1371600"/>
            <a:ext cx="1444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Atomic values only. Fix: separate each product into its own row in order_items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66744" y="749808"/>
            <a:ext cx="1627632" cy="3474720"/>
          </a:xfrm>
          <a:prstGeom prst="rect">
            <a:avLst/>
          </a:prstGeom>
          <a:solidFill>
            <a:srgbClr val="D1FAE5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66744" y="749808"/>
            <a:ext cx="1627632" cy="5303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3666744" y="749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66744" y="1005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Second NF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58184" y="1371600"/>
            <a:ext cx="1444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Full functional dependency on PK. Fix: remove partial deps — unit_price only in order_items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31536" y="749808"/>
            <a:ext cx="1627632" cy="3474720"/>
          </a:xfrm>
          <a:prstGeom prst="rect">
            <a:avLst/>
          </a:prstGeom>
          <a:solidFill>
            <a:srgbClr val="DBEAF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749808"/>
            <a:ext cx="1627632" cy="53035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27" name="Text 25"/>
          <p:cNvSpPr/>
          <p:nvPr/>
        </p:nvSpPr>
        <p:spPr>
          <a:xfrm>
            <a:off x="5431536" y="749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31536" y="1005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Third NF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22976" y="1371600"/>
            <a:ext cx="1444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No transitive deps. Fix: shop_name in sellers (not products). category_name in categories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96328" y="749808"/>
            <a:ext cx="1627632" cy="3474720"/>
          </a:xfrm>
          <a:prstGeom prst="rect">
            <a:avLst/>
          </a:prstGeom>
          <a:solidFill>
            <a:srgbClr val="EDE9FE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749808"/>
            <a:ext cx="1627632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74980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96328" y="100584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Boyce-Codd NF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87768" y="1371600"/>
            <a:ext cx="144475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B4D"/>
                </a:solidFill>
              </a:rPr>
              <a:t>Every determinant is a superkey. All our tables pass BCNF. ✓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7160" y="4315968"/>
            <a:ext cx="8869680" cy="274320"/>
          </a:xfrm>
          <a:prstGeom prst="rect">
            <a:avLst/>
          </a:prstGeom>
          <a:solidFill>
            <a:srgbClr val="EBF3FB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43159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4D"/>
                </a:solidFill>
              </a:rPr>
              <a:t>Our schema is fully normalised to BCNF — no redundancy, no anomalies.  Proof: all FDs verified, unit_price captured at order time, seller details separated from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4663440"/>
            <a:ext cx="6583680" cy="480060"/>
          </a:xfrm>
          <a:prstGeom prst="rect">
            <a:avLst/>
          </a:prstGeom>
          <a:solidFill>
            <a:srgbClr val="D6E4F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137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37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502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PHASE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804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Advanced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DB Objects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" y="1572768"/>
            <a:ext cx="2231136" cy="566928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" y="1572768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" y="2322576"/>
            <a:ext cx="223113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" y="2322576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Triggers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" y="3072384"/>
            <a:ext cx="2231136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" y="3072384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Stored Proc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" y="3822192"/>
            <a:ext cx="2231136" cy="5669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" y="3822192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Indexes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4 — Advanced DB Objects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8 / 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914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D"/>
                </a:solidFill>
              </a:rPr>
              <a:t>Advanced Database Objects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43200" y="566928"/>
            <a:ext cx="6126480" cy="25603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566928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 — vw_product_catalogue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822960"/>
            <a:ext cx="6126480" cy="1435608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89611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vw_product_catalogue 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16352" y="107899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p.name, p.price, c.name AS category,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16352" y="126187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s.shop_name, AVG(r.rating) AS avg_rating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16352" y="144475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 JOIN categories c USING(category_id)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16352" y="162763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sellers s USING(seller_id)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16352" y="181051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reviews r USING(product_id)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16352" y="1993392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p.product_id;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2176272"/>
            <a:ext cx="61264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2816352" y="217627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TRIGGER — trg_check_stock (BEFORE INSERT on order_items)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0" y="2432304"/>
            <a:ext cx="6126480" cy="1627632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250545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trg_check_stock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16352" y="268833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ON order_items FOR EACH ROW BEGIN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16352" y="287121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DECLARE v_stock INT;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16352" y="305409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stock_qty INTO v_stock FROM products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16352" y="323697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product_id = NEW.product_id;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16352" y="341985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v_stock &lt; NEW.quantity THEN SIGNAL SQLSTATE '45000'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16352" y="360273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MESSAGE_TEXT = 'Insufficient stock.'; END IF;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16352" y="3785616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3840480"/>
            <a:ext cx="61264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2816352" y="3840480"/>
            <a:ext cx="6053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 Indexes for Performance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0" y="4096512"/>
            <a:ext cx="6126480" cy="438912"/>
          </a:xfrm>
          <a:prstGeom prst="rect">
            <a:avLst/>
          </a:prstGeom>
          <a:solidFill>
            <a:srgbClr val="EBF7F6"/>
          </a:solidFill>
          <a:ln/>
        </p:spPr>
      </p:sp>
      <p:sp>
        <p:nvSpPr>
          <p:cNvPr id="44" name="Text 42"/>
          <p:cNvSpPr/>
          <p:nvPr/>
        </p:nvSpPr>
        <p:spPr>
          <a:xfrm>
            <a:off x="2816352" y="4096512"/>
            <a:ext cx="6053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A44"/>
                </a:solidFill>
              </a:rPr>
              <a:t>idx_products_category  |  idx_products_seller  |  idx_orders_user  |  idx_orders_status  |  idx_order_items_order  |  idx_reviews_product  |  idx_payments_status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5 — Transactions &amp; ACID Properties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5 — Transaction Simulator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9 /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731520"/>
            <a:ext cx="2011680" cy="128016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731520"/>
            <a:ext cx="20116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731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731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Atomicity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1170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All ops succeed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or all fail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5728" y="731520"/>
            <a:ext cx="2011680" cy="128016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95728" y="731520"/>
            <a:ext cx="2011680" cy="365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731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71216" y="731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Consistency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87168" y="1170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DB moves between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valid states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731520"/>
            <a:ext cx="2011680" cy="128016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731520"/>
            <a:ext cx="2011680" cy="365760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22" name="Text 20"/>
          <p:cNvSpPr/>
          <p:nvPr/>
        </p:nvSpPr>
        <p:spPr>
          <a:xfrm>
            <a:off x="4608576" y="731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84064" y="731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1170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Concurrent txns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appear sequential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21424" y="731520"/>
            <a:ext cx="2011680" cy="1280160"/>
          </a:xfrm>
          <a:prstGeom prst="rect">
            <a:avLst/>
          </a:prstGeom>
          <a:solidFill>
            <a:srgbClr val="EFF6FF"/>
          </a:solidFill>
          <a:ln w="10160">
            <a:solidFill>
              <a:srgbClr val="BED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21424" y="731520"/>
            <a:ext cx="20116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821424" y="731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96912" y="731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Durability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1170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Committed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D"/>
                </a:solidFill>
              </a:rPr>
              <a:t>survives failure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2194560"/>
            <a:ext cx="2788920" cy="2331720"/>
          </a:xfrm>
          <a:prstGeom prst="rect">
            <a:avLst/>
          </a:prstGeom>
          <a:solidFill>
            <a:srgbClr val="D1FAE5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2194560"/>
            <a:ext cx="27889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194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 1: COMMIT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26334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✅ All 5 steps succeed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BEGIN → Insert Order → Add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Deduct Stock → Record Payment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COMMIT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2194560"/>
            <a:ext cx="2788920" cy="23317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2194560"/>
            <a:ext cx="27889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3246120" y="2194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 2: ROLLBACK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46120" y="26334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❌ Payment fails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46120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BEGIN → Insert Order → Add Items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Payment gateway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ROLLBACK (nothing saved)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194560"/>
            <a:ext cx="2788920" cy="2331720"/>
          </a:xfrm>
          <a:prstGeom prst="rect">
            <a:avLst/>
          </a:prstGeom>
          <a:solidFill>
            <a:srgbClr val="FEF9C3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2194560"/>
            <a:ext cx="278892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21945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 3: SAVEPOINT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26334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D"/>
                </a:solidFill>
              </a:rPr>
              <a:t>↩ Partial undo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BEGIN → Insert Order → SAVEPOINT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Item fails stock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→ ROLLBACK TO SAVEPOINT → Retry → COMMIT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4663440"/>
            <a:ext cx="6583680" cy="480060"/>
          </a:xfrm>
          <a:prstGeom prst="rect">
            <a:avLst/>
          </a:prstGeom>
          <a:solidFill>
            <a:srgbClr val="D6E4F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137160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37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" y="502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AABB"/>
                </a:solidFill>
              </a:rPr>
              <a:t>PHASE 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8046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Concurrency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" y="1572768"/>
            <a:ext cx="2286000" cy="6126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" y="1572768"/>
            <a:ext cx="22860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UNCOMMITTED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" y="2368296"/>
            <a:ext cx="2286000" cy="6126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2368296"/>
            <a:ext cx="22860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COMMITTED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" y="3163824"/>
            <a:ext cx="2286000" cy="612648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" y="3163824"/>
            <a:ext cx="22860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(default)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" y="3959352"/>
            <a:ext cx="2286000" cy="6126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" y="3959352"/>
            <a:ext cx="228600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SERIALIZABLE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6 — Concurrency 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10 / 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914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B4D"/>
                </a:solidFill>
              </a:rPr>
              <a:t>Concurrency Problems &amp; Locking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43200" y="548640"/>
            <a:ext cx="1920240" cy="393192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566928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Isolation 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548640"/>
            <a:ext cx="1280160" cy="393192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566928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Dirty 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0" y="548640"/>
            <a:ext cx="1554480" cy="393192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566928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Non-Repeatable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007840" y="548640"/>
            <a:ext cx="1371600" cy="393192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566928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Phantom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969264"/>
            <a:ext cx="1920240" cy="393192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987552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READ UNCOMMITTED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969264"/>
            <a:ext cx="1280160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987552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Possible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0" y="969264"/>
            <a:ext cx="1554480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987552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Possible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007840" y="969264"/>
            <a:ext cx="1371600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5" name="Text 33"/>
          <p:cNvSpPr/>
          <p:nvPr/>
        </p:nvSpPr>
        <p:spPr>
          <a:xfrm>
            <a:off x="7543800" y="987552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Possible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0" y="1389888"/>
            <a:ext cx="19202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788920" y="1408176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READ COMMITTED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389888"/>
            <a:ext cx="128016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1408176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0" y="1389888"/>
            <a:ext cx="1554480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1408176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Possible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007840" y="1389888"/>
            <a:ext cx="1371600" cy="39319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3" name="Text 41"/>
          <p:cNvSpPr/>
          <p:nvPr/>
        </p:nvSpPr>
        <p:spPr>
          <a:xfrm>
            <a:off x="7543800" y="1408176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Possible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0" y="1810512"/>
            <a:ext cx="1920240" cy="393192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45" name="Text 43"/>
          <p:cNvSpPr/>
          <p:nvPr/>
        </p:nvSpPr>
        <p:spPr>
          <a:xfrm>
            <a:off x="2788920" y="1828800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REPEATABLE READ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1810512"/>
            <a:ext cx="128016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7" name="Text 45"/>
          <p:cNvSpPr/>
          <p:nvPr/>
        </p:nvSpPr>
        <p:spPr>
          <a:xfrm>
            <a:off x="4709160" y="1828800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44000" y="1810512"/>
            <a:ext cx="155448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9" name="Text 47"/>
          <p:cNvSpPr/>
          <p:nvPr/>
        </p:nvSpPr>
        <p:spPr>
          <a:xfrm>
            <a:off x="5989320" y="1828800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7007840" y="1810512"/>
            <a:ext cx="1371600" cy="393192"/>
          </a:xfrm>
          <a:prstGeom prst="rect">
            <a:avLst/>
          </a:prstGeom>
          <a:solidFill>
            <a:srgbClr val="EBF3FF"/>
          </a:solidFill>
          <a:ln/>
        </p:spPr>
      </p:sp>
      <p:sp>
        <p:nvSpPr>
          <p:cNvPr id="51" name="Text 49"/>
          <p:cNvSpPr/>
          <p:nvPr/>
        </p:nvSpPr>
        <p:spPr>
          <a:xfrm>
            <a:off x="7543800" y="1828800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Mostly Prev.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0" y="2231136"/>
            <a:ext cx="19202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788920" y="2249424"/>
            <a:ext cx="1828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2B4D"/>
                </a:solidFill>
              </a:rPr>
              <a:t>SERIALIZABLE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231136"/>
            <a:ext cx="128016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5" name="Text 53"/>
          <p:cNvSpPr/>
          <p:nvPr/>
        </p:nvSpPr>
        <p:spPr>
          <a:xfrm>
            <a:off x="4709160" y="2249424"/>
            <a:ext cx="1188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144000" y="2231136"/>
            <a:ext cx="155448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7" name="Text 55"/>
          <p:cNvSpPr/>
          <p:nvPr/>
        </p:nvSpPr>
        <p:spPr>
          <a:xfrm>
            <a:off x="5989320" y="2249424"/>
            <a:ext cx="1463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7007840" y="2231136"/>
            <a:ext cx="1371600" cy="39319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9" name="Text 57"/>
          <p:cNvSpPr/>
          <p:nvPr/>
        </p:nvSpPr>
        <p:spPr>
          <a:xfrm>
            <a:off x="7543800" y="2249424"/>
            <a:ext cx="12801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Prevented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0" y="2697480"/>
            <a:ext cx="6126480" cy="2560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1" name="Text 59"/>
          <p:cNvSpPr/>
          <p:nvPr/>
        </p:nvSpPr>
        <p:spPr>
          <a:xfrm>
            <a:off x="2816352" y="269748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SELECT FOR UPDATE — Pessimistic Locking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0" y="2953512"/>
            <a:ext cx="6126480" cy="1243584"/>
          </a:xfrm>
          <a:prstGeom prst="rect">
            <a:avLst/>
          </a:prstGeom>
          <a:solidFill>
            <a:srgbClr val="F0F6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16352" y="302666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TRANSACTION;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816352" y="320954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stock_qty FROM products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816352" y="339242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product_id = 1 FOR UPDATE;  -- row locked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816352" y="357530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products SET stock_qty = stock_qty - 1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816352" y="375818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product_id = 1 AND stock_qty &gt; 0;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816352" y="3941064"/>
            <a:ext cx="60167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lock released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0" y="4251960"/>
            <a:ext cx="6126480" cy="292608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34640" y="42519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00"/>
                </a:solidFill>
              </a:rPr>
              <a:t>⚠ Deadlock: T1 waits on row locked by T2, T2 waits on row locked by T1 → InnoDB auto-detects &amp; rolls back one.  Prevention: always acquire locks in same order.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Viva Preparation — Key Questions &amp; Answers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Phase 4 — Viva Q&amp;A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11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877824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749808"/>
            <a:ext cx="256032" cy="621792"/>
          </a:xfrm>
          <a:prstGeom prst="rect">
            <a:avLst/>
          </a:prstGeom>
          <a:solidFill>
            <a:srgbClr val="1A5FA6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" y="74980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7772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What is the difference between DELETE, DROP, TRUNCATE?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0241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DELETE removes specific rows with WHERE. TRUNCATE removes all rows quickly. DROP removes the table structure entirely.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453896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1453896"/>
            <a:ext cx="256032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1453896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4813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What are ACID properties?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17282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Atomicity (all-or-nothing), Consistency (valid states), Isolation (transactions don't interfere), Durability (persists after failure).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2157984"/>
            <a:ext cx="877824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157984"/>
            <a:ext cx="256032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157984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18541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What is a deadlock and how does MySQL handle it?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24323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Two transactions each wait for a lock held by the other. MySQL InnoDB detects it automatically and rolls back the victim transaction.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862072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2862072"/>
            <a:ext cx="256032" cy="6217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2862072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288950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Why is unit_price stored in order_items instead of products?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1363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To preserve the price at the time of purchase. Product prices change, but historical orders must reflect the original price.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566160"/>
            <a:ext cx="8778240" cy="621792"/>
          </a:xfrm>
          <a:prstGeom prst="rect">
            <a:avLst/>
          </a:prstGeom>
          <a:solidFill>
            <a:srgbClr val="EFF6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566160"/>
            <a:ext cx="256032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3566160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59359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Explain the difference between a View and a Table.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38404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A table physically stores data. A view is a virtual table defined by a stored query — it has no data of its own.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4270248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4270248"/>
            <a:ext cx="256032" cy="6217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4270248"/>
            <a:ext cx="256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2976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4D"/>
                </a:solidFill>
              </a:rPr>
              <a:t>What is SELECT FOR UPDATE?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5445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</a:rPr>
              <a:t>A statement that locks selected rows so other transactions cannot modify them until the current transaction commits or rolls back.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64592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645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37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7 — Final Submission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13232"/>
            <a:ext cx="160020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1A5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046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" y="12984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" y="16002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A"/>
                </a:solidFill>
              </a:rPr>
              <a:t>Full BCNF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47672" y="713232"/>
            <a:ext cx="160020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8046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47672" y="12984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47672" y="16002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A"/>
                </a:solidFill>
              </a:rPr>
              <a:t>RA + SQL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713232"/>
            <a:ext cx="160020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8046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712464" y="12984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16002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A"/>
                </a:solidFill>
              </a:rPr>
              <a:t>COMMIT/ROLLBACK/SP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77256" y="713232"/>
            <a:ext cx="160020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77256" y="8046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77256" y="12984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77256" y="16002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A"/>
                </a:solidFill>
              </a:rPr>
              <a:t>Concurrency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42048" y="713232"/>
            <a:ext cx="160020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42048" y="8046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242048" y="12984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NF Proofs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42048" y="160020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A"/>
                </a:solidFill>
              </a:rPr>
              <a:t>UNF → BCNF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26771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4FA"/>
                </a:solidFill>
              </a:rPr>
              <a:t>Concepts Applied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82880" y="268833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ER Modelling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268833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SQL DDL/DML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68833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Relational Algebra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268833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6883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Normalisation 1NF→BCNF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319125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Views &amp; Procedures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23160" y="319125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2316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BEFORE/AFTER Triggers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19125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ACID Transactions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03720" y="319125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1912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Concurrency Control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82880" y="369417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36941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Window Functions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423160" y="369417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36941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CTEs &amp; Subqueries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369417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6941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SELECT FOR UPDATE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03720" y="3694176"/>
            <a:ext cx="2103120" cy="384048"/>
          </a:xfrm>
          <a:prstGeom prst="rect">
            <a:avLst/>
          </a:prstGeom>
          <a:solidFill>
            <a:srgbClr val="1A4066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369417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A"/>
                </a:solidFill>
              </a:rPr>
              <a:t>Isolation Levels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Thank You  —  E-Commerce DBMS Project  |  MySQL 8.0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Platform — Complete DBMS Project</dc:title>
  <dc:subject>PptxGenJS Presentation</dc:subject>
  <dc:creator>DBMS College Project</dc:creator>
  <cp:lastModifiedBy>DBMS College Project</cp:lastModifiedBy>
  <cp:revision>1</cp:revision>
  <dcterms:created xsi:type="dcterms:W3CDTF">2026-04-19T11:59:24Z</dcterms:created>
  <dcterms:modified xsi:type="dcterms:W3CDTF">2026-04-19T11:59:24Z</dcterms:modified>
</cp:coreProperties>
</file>